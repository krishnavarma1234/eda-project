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8" r:id="rId10"/>
    <p:sldId id="271" r:id="rId11"/>
    <p:sldId id="274" r:id="rId12"/>
    <p:sldId id="269" r:id="rId13"/>
    <p:sldId id="279" r:id="rId14"/>
    <p:sldId id="272" r:id="rId15"/>
    <p:sldId id="278" r:id="rId16"/>
    <p:sldId id="275" r:id="rId17"/>
    <p:sldId id="270" r:id="rId18"/>
    <p:sldId id="273" r:id="rId19"/>
    <p:sldId id="265" r:id="rId20"/>
    <p:sldId id="276" r:id="rId21"/>
    <p:sldId id="277" r:id="rId22"/>
    <p:sldId id="266" r:id="rId23"/>
    <p:sldId id="267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FC0FB3F-3098-4315-99D6-4D539F170A71}" v="87" dt="2026-09-26T09:07:56.17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6-09-26T05:54:19.819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12259 6932 0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71044B-414F-4041-A6C7-884DE0E6A6CA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E51419-E69D-4955-8BEB-6B96898626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6712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E51419-E69D-4955-8BEB-6B968986268C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7653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4A1C3-25E0-90B6-F3C4-DD5792D358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F38803-1816-3173-DED7-A9150096EB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4C7BD-6DEF-E1FF-4B17-B9306A276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943BD-82A9-4664-BCA2-C3CC151CE236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57819A-2757-35AA-F900-E4F863C86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5A0149-7AED-428A-93C6-5629D772C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59FB7D-8604-477F-BDC2-291B1B12CA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1164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823A4-1D96-82A2-E4FE-75115A770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8225D6-DF4F-5DF0-AD93-15C9A1D862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B5EEFF-3798-F430-FC1D-E07CBE7C0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943BD-82A9-4664-BCA2-C3CC151CE236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2A9C2-AA89-6032-3C22-26570DD67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4A68B4-BB73-5861-0402-E6631C676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59FB7D-8604-477F-BDC2-291B1B12CA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74647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CE6E7-9C3D-C556-1457-DF21328D6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C2EF4D-B2E6-FB36-481C-A4DA3BB587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585BC7-1D16-EEB1-B660-7535244E3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943BD-82A9-4664-BCA2-C3CC151CE236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C88E03-B2E0-AC92-92F4-1C5647985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EF7651-26B1-598C-EA7A-35713AB59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59FB7D-8604-477F-BDC2-291B1B12CA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2937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F5AFE-DDF3-FBF6-C7E5-7BA564EAB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A87556-83B7-4073-CFF9-3C8FB45645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72C93E-AD4F-5424-693D-CA3673A4E6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968D3-8676-7FB3-68B6-082DA5AD7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943BD-82A9-4664-BCA2-C3CC151CE236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3EEFF5-FFEF-687E-90F3-4490B486D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8B44BB-5359-C69D-A756-0B78B68B5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59FB7D-8604-477F-BDC2-291B1B12CA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1089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EE869-83F7-FDF9-AA68-C012521CD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8C8B86-D130-94E9-150D-657B1C8EE2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5128DA-DB3C-BEDE-E664-D4F7CBA9A1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A4B553-F157-561A-B539-1D9B5BBBC6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D7F7A4-4CC3-E7F6-CBB7-730D56997E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BA9AD50-D259-6633-A733-B1C180138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943BD-82A9-4664-BCA2-C3CC151CE236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2AFBFC-F3CE-80FB-E5A0-DC5CC36ED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458D94-67EE-BC11-2F12-C0E742586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59FB7D-8604-477F-BDC2-291B1B12CA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4091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77FA9-2B30-25E1-0BBD-D8CC7F9F8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8C403E-C53B-5646-A46A-8F314AAA7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943BD-82A9-4664-BCA2-C3CC151CE236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5DAF87-5F07-8034-4F4C-9CF418CE4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F1138A-8076-8905-16F0-7D63684AD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59FB7D-8604-477F-BDC2-291B1B12CA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23475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C17034-E542-D5B3-B415-0705F406B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943BD-82A9-4664-BCA2-C3CC151CE236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315080-94AE-B87F-A654-74F519209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991700-224D-7020-A52E-BC40184BD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59FB7D-8604-477F-BDC2-291B1B12CA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23893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3A55C-EF64-A179-54B2-5CD7CDC45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50B531-2250-D846-F17E-1DCD68503A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B7B89D-15C0-3831-3DD4-275804E0F2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2C1D55-F93D-241C-A150-DACF90C07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943BD-82A9-4664-BCA2-C3CC151CE236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42FA2A-415A-7B2A-B94C-7F70A66FA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1E9D88-5565-BD4B-B962-30789DEE6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59FB7D-8604-477F-BDC2-291B1B12CA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01771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9B559-1BCD-509E-234C-7DBEC5A6A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95AC8B-824D-9A08-04CA-DBAACB829A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636195-AE24-D7F7-680A-007F041463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232227-A7E6-C1E4-5822-30113459B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943BD-82A9-4664-BCA2-C3CC151CE236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EC05CD-91A4-4A15-A77E-CDCA99926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4F735B-1936-7671-D029-B36DF827C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59FB7D-8604-477F-BDC2-291B1B12CA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61933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66D46-0BDE-AA64-8482-5C78E0368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79D214-1D8F-0499-D0C7-A54C1D6DE1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425AF8-7430-DE39-84BE-5B335BE31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943BD-82A9-4664-BCA2-C3CC151CE236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175AC9-F6B7-BE6A-059D-FDEFD605C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B361A6-CBA2-EFC5-3ADE-B7FEF9B50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59FB7D-8604-477F-BDC2-291B1B12CA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55485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5FA58D5-B579-D28C-1F90-C98B4B9C05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44950B-E029-8155-76A8-48CFD2AE04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9F90C7-4211-92C1-6B56-36EC1117C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943BD-82A9-4664-BCA2-C3CC151CE236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80E5F2-32AF-3A39-72F6-5F8EC7DCD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746251-7A6F-1200-A3E4-9919F27B0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59FB7D-8604-477F-BDC2-291B1B12CA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41092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3DD959-14DA-584A-3E0A-19B03BE09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C14883-6619-6316-E8DF-19611F75D5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B15B9F-1D39-F644-BE6B-1FE5F60AED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D943BD-82A9-4664-BCA2-C3CC151CE236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32A03D-0CF0-0063-EB4D-A7F929496C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4A06A9-BD44-4A1D-9B81-F6C9E4C64C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59FB7D-8604-477F-BDC2-291B1B12CA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17982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/><Relationship Id="rId3" Type="http://schemas.openxmlformats.org/officeDocument/2006/relationships/customXml" Target="../ink/ink1.xml"/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jpg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jp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E511DFB-7158-CBBF-E8E1-867CA3AFD4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F7DDDFD-5F32-7542-9639-60E474D51D99}"/>
              </a:ext>
            </a:extLst>
          </p:cNvPr>
          <p:cNvSpPr txBox="1"/>
          <p:nvPr/>
        </p:nvSpPr>
        <p:spPr>
          <a:xfrm>
            <a:off x="3008678" y="3746091"/>
            <a:ext cx="66269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Indian Motorcycle Market Analysis</a:t>
            </a:r>
            <a:endParaRPr lang="en-IN" sz="32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D79ECABA-94F2-4DFB-BCD2-652D612DC1DF}"/>
                  </a:ext>
                </a:extLst>
              </p14:cNvPr>
              <p14:cNvContentPartPr/>
              <p14:nvPr/>
            </p14:nvContentPartPr>
            <p14:xfrm>
              <a:off x="4413240" y="2495520"/>
              <a:ext cx="360" cy="36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D79ECABA-94F2-4DFB-BCD2-652D612DC1D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397400" y="2432160"/>
                <a:ext cx="31680" cy="127080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F45D291A-CC3E-8C24-4551-5F7C7BD8A20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7200" y="0"/>
            <a:ext cx="2844800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188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2010"/>
    </mc:Choice>
    <mc:Fallback xmlns="">
      <p:transition spd="slow" advTm="3201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610AC55-0A3E-F221-7C98-511BF50BC8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7923" y="6331974"/>
            <a:ext cx="3864077" cy="526026"/>
          </a:xfrm>
          <a:prstGeom prst="rect">
            <a:avLst/>
          </a:prstGeom>
        </p:spPr>
      </p:pic>
      <p:sp>
        <p:nvSpPr>
          <p:cNvPr id="8" name="Google Shape;105;p3">
            <a:extLst>
              <a:ext uri="{FF2B5EF4-FFF2-40B4-BE49-F238E27FC236}">
                <a16:creationId xmlns:a16="http://schemas.microsoft.com/office/drawing/2014/main" id="{DA3DB734-6CC3-EE6F-3133-F7BC25B1FFD3}"/>
              </a:ext>
            </a:extLst>
          </p:cNvPr>
          <p:cNvSpPr txBox="1"/>
          <p:nvPr/>
        </p:nvSpPr>
        <p:spPr>
          <a:xfrm>
            <a:off x="0" y="837941"/>
            <a:ext cx="6099600" cy="11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3200" b="1" i="0" u="none" strike="noStrike" cap="none" dirty="0">
                <a:solidFill>
                  <a:srgbClr val="C00000"/>
                </a:solidFill>
                <a:latin typeface="Times New Roman" panose="02020603050405020304" pitchFamily="18" charset="0"/>
                <a:ea typeface="Lato Black"/>
                <a:cs typeface="Times New Roman" panose="02020603050405020304" pitchFamily="18" charset="0"/>
                <a:sym typeface="Lato Black"/>
              </a:rPr>
              <a:t>About me</a:t>
            </a:r>
            <a:r>
              <a:rPr lang="en-IN" sz="3200" b="1" dirty="0">
                <a:solidFill>
                  <a:srgbClr val="C00000"/>
                </a:solidFill>
                <a:latin typeface="Times New Roman" panose="02020603050405020304" pitchFamily="18" charset="0"/>
                <a:ea typeface="Lato Black"/>
                <a:cs typeface="Times New Roman" panose="02020603050405020304" pitchFamily="18" charset="0"/>
                <a:sym typeface="Lato Black"/>
              </a:rPr>
              <a:t>:</a:t>
            </a: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endParaRPr lang="en-IN" sz="3200" b="1" i="0" u="none" strike="noStrike" cap="none" dirty="0">
              <a:solidFill>
                <a:srgbClr val="C00000"/>
              </a:solidFill>
              <a:latin typeface="Times New Roman" panose="02020603050405020304" pitchFamily="18" charset="0"/>
              <a:ea typeface="Lato Black"/>
              <a:cs typeface="Times New Roman" panose="02020603050405020304" pitchFamily="18" charset="0"/>
              <a:sym typeface="Lato Black"/>
            </a:endParaRPr>
          </a:p>
          <a:p>
            <a: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</a:pPr>
            <a:endParaRPr sz="1800" b="1" i="0" u="none" strike="noStrike" cap="none" dirty="0">
              <a:solidFill>
                <a:srgbClr val="C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52D834-B741-0107-5D5F-6ED3FCC9024B}"/>
              </a:ext>
            </a:extLst>
          </p:cNvPr>
          <p:cNvSpPr txBox="1"/>
          <p:nvPr/>
        </p:nvSpPr>
        <p:spPr>
          <a:xfrm>
            <a:off x="233224" y="2055938"/>
            <a:ext cx="936843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NAME : Chekuri Krishna Varma</a:t>
            </a:r>
          </a:p>
          <a:p>
            <a:pPr marL="285750" lvl="0" indent="-285750"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endParaRPr lang="en-US" sz="2000" b="1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285750" lvl="0" indent="-285750"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EDUCATION:  </a:t>
            </a:r>
            <a:r>
              <a:rPr 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B</a:t>
            </a: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.</a:t>
            </a:r>
            <a:r>
              <a:rPr 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TECH</a:t>
            </a: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</a:t>
            </a:r>
            <a:r>
              <a:rPr 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(CSE</a:t>
            </a: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)</a:t>
            </a:r>
          </a:p>
          <a:p>
            <a:pPr marL="285750" lvl="0" indent="-285750"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endParaRPr lang="en-US" sz="2000" b="1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285750" lvl="0" indent="-285750"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PROFILE: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lvl="0" indent="-285750"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buClr>
                <a:schemeClr val="dk1"/>
              </a:buClr>
              <a:buSzPts val="2400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LINKEDIN </a:t>
            </a:r>
            <a:r>
              <a:rPr lang="en-IN" sz="2000" b="1" dirty="0"/>
              <a:t>:</a:t>
            </a:r>
          </a:p>
          <a:p>
            <a:pPr lvl="0">
              <a:buClr>
                <a:schemeClr val="dk1"/>
              </a:buClr>
              <a:buSzPts val="2400"/>
            </a:pPr>
            <a:endParaRPr lang="en-IN" sz="2000" b="1" dirty="0"/>
          </a:p>
          <a:p>
            <a:pPr lvl="0">
              <a:buClr>
                <a:schemeClr val="dk1"/>
              </a:buClr>
              <a:buSzPts val="2400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:</a:t>
            </a:r>
            <a:r>
              <a:rPr lang="en-IN" sz="2000" b="1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https://github.com/Krishnavarma1234</a:t>
            </a:r>
            <a:endParaRPr lang="en-IN" dirty="0">
              <a:solidFill>
                <a:schemeClr val="accent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CC9029-60F4-47EE-E0B3-BA017D59AB44}"/>
              </a:ext>
            </a:extLst>
          </p:cNvPr>
          <p:cNvSpPr txBox="1"/>
          <p:nvPr/>
        </p:nvSpPr>
        <p:spPr>
          <a:xfrm>
            <a:off x="1869439" y="3844857"/>
            <a:ext cx="68391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solidFill>
                  <a:schemeClr val="accent4"/>
                </a:solidFill>
              </a:rPr>
              <a:t>www.linkedin.com/in/krishna-varma-chekuri-a78470303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33DEE1B-EB59-846B-CBE8-3207B49990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4128" y="0"/>
            <a:ext cx="3017872" cy="1697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11678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 advTm="21993"/>
    </mc:Choice>
    <mc:Fallback xmlns="">
      <p:transition spd="slow" advTm="2199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4DFC4-2349-82EE-C118-3FC8D8198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3069"/>
          </a:xfrm>
        </p:spPr>
        <p:txBody>
          <a:bodyPr/>
          <a:lstStyle/>
          <a:p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endParaRPr lang="en-IN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E6BBB3-3764-ABDC-BBE5-A269A2FA5F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87974"/>
            <a:ext cx="5257800" cy="378859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motorcycle data from BikeWale </a:t>
            </a:r>
          </a:p>
          <a:p>
            <a:pPr marL="0" lvl="0" indent="0"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different motorcycle brands and models </a:t>
            </a:r>
          </a:p>
          <a:p>
            <a:pPr marL="0" lvl="0" indent="0"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 and preprocess the dataset </a:t>
            </a:r>
          </a:p>
          <a:p>
            <a:pPr marL="0" lvl="0" indent="0"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 missing values and duplicates </a:t>
            </a:r>
          </a:p>
          <a:p>
            <a:pPr marL="0" lvl="0" indent="0"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important patterns </a:t>
            </a:r>
          </a:p>
          <a:p>
            <a:pPr marL="0" lvl="0" indent="0"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meaningful visualizations</a:t>
            </a: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E9D4E0-923B-2812-91EB-073B67691F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7923" y="6331974"/>
            <a:ext cx="3864077" cy="52602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A5B3323-0D1E-7827-7FB9-D4A77D1CE3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4486" y="0"/>
            <a:ext cx="2427514" cy="1278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285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881"/>
    </mc:Choice>
    <mc:Fallback xmlns="">
      <p:transition spd="slow" advTm="3588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A50C5E6-8631-D9B2-E6EB-6806C67405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7923" y="6331974"/>
            <a:ext cx="3864077" cy="526026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6966712-E59B-80D2-7F1E-735768232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5920"/>
          </a:xfrm>
        </p:spPr>
        <p:txBody>
          <a:bodyPr>
            <a:normAutofit/>
          </a:bodyPr>
          <a:lstStyle/>
          <a:p>
            <a:r>
              <a:rPr lang="en-IN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Source &amp; Brands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23284A8-2E7E-635D-AEDF-953CC74B59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4334"/>
            <a:ext cx="10754032" cy="512260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Source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Website: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BikeWale</a:t>
            </a: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Brands Scraped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Royal Enfield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Hero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Honda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Triumph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Kawasaki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Suzuki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Ather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TVS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Yamaha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68DC8F5-77B9-3F52-8952-F8EFD123559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88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798142" y="1504334"/>
            <a:ext cx="6038235" cy="4025490"/>
          </a:xfrm>
          <a:prstGeom prst="rect">
            <a:avLst/>
          </a:prstGeom>
          <a:solidFill>
            <a:srgbClr val="FFFFFF">
              <a:shade val="85000"/>
            </a:srgbClr>
          </a:solidFill>
          <a:ln w="101600" cap="sq">
            <a:solidFill>
              <a:srgbClr val="FDFDFD"/>
            </a:solidFill>
            <a:miter lim="800000"/>
          </a:ln>
          <a:effectLst>
            <a:outerShdw blurRad="57150" dist="37500" dir="7560000" sy="98000" kx="110000" ky="200000" algn="tl" rotWithShape="0">
              <a:srgbClr val="000000">
                <a:alpha val="20000"/>
              </a:srgbClr>
            </a:outerShdw>
          </a:effectLst>
          <a:scene3d>
            <a:camera prst="perspectiveRelaxed">
              <a:rot lat="18960000" lon="0" rev="0"/>
            </a:camera>
            <a:lightRig rig="twoPt" dir="t">
              <a:rot lat="0" lon="0" rev="7200000"/>
            </a:lightRig>
          </a:scene3d>
          <a:sp3d prstMaterial="matte">
            <a:bevelT w="22860" h="12700"/>
            <a:contourClr>
              <a:srgbClr val="FFFFFF"/>
            </a:contourClr>
          </a:sp3d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7344736-1F0D-704D-6280-DF5D4A06DE6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7628" y="0"/>
            <a:ext cx="2674372" cy="1504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2677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8838"/>
    </mc:Choice>
    <mc:Fallback xmlns="">
      <p:transition spd="slow" advTm="28838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88DA7CC-A50B-C864-D206-F7969825E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96759"/>
          </a:xfrm>
        </p:spPr>
        <p:txBody>
          <a:bodyPr>
            <a:normAutofit/>
          </a:bodyPr>
          <a:lstStyle/>
          <a:p>
            <a:r>
              <a:rPr lang="en-IN" sz="3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AFED2A6A-A284-AB54-C165-0C491DD8234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40042013"/>
              </p:ext>
            </p:extLst>
          </p:nvPr>
        </p:nvGraphicFramePr>
        <p:xfrm>
          <a:off x="641556" y="1771336"/>
          <a:ext cx="7833850" cy="3243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16925">
                  <a:extLst>
                    <a:ext uri="{9D8B030D-6E8A-4147-A177-3AD203B41FA5}">
                      <a16:colId xmlns:a16="http://schemas.microsoft.com/office/drawing/2014/main" val="3011369111"/>
                    </a:ext>
                  </a:extLst>
                </a:gridCol>
                <a:gridCol w="3916925">
                  <a:extLst>
                    <a:ext uri="{9D8B030D-6E8A-4147-A177-3AD203B41FA5}">
                      <a16:colId xmlns:a16="http://schemas.microsoft.com/office/drawing/2014/main" val="36719390"/>
                    </a:ext>
                  </a:extLst>
                </a:gridCol>
              </a:tblGrid>
              <a:tr h="4053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Technology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7450644"/>
                  </a:ext>
                </a:extLst>
              </a:tr>
              <a:tr h="4053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Python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Programming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846795"/>
                  </a:ext>
                </a:extLst>
              </a:tr>
              <a:tr h="4053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Requests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Web requests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49222668"/>
                  </a:ext>
                </a:extLst>
              </a:tr>
              <a:tr h="4053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BeautifulSoup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Web scraping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3809733"/>
                  </a:ext>
                </a:extLst>
              </a:tr>
              <a:tr h="4053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Pandas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analysis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5590149"/>
                  </a:ext>
                </a:extLst>
              </a:tr>
              <a:tr h="4053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NumPy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Numerical operations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7469115"/>
                  </a:ext>
                </a:extLst>
              </a:tr>
              <a:tr h="4053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Matplotlib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Visualization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4095934"/>
                  </a:ext>
                </a:extLst>
              </a:tr>
              <a:tr h="4053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Seaborn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Statistical visualization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3405453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B5791BE9-99C9-82FF-61C0-FBD257FCB9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7923" y="6331974"/>
            <a:ext cx="3864077" cy="52602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69DADE7-59A6-2EA1-E998-1580430A02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8420" y="0"/>
            <a:ext cx="2283580" cy="1284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570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9371"/>
    </mc:Choice>
    <mc:Fallback xmlns="">
      <p:transition spd="slow" advTm="3937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4F084-E8DF-7F0E-867C-68674FA8D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31056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Scraping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EBF415-650C-103E-13DF-43863A304F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058265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BikeWale Website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 HTTP Request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BeautifulSoup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 Bike Details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DataFrame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 as CSV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2DEF02-7A04-9CB0-A2CA-2725D915E290}"/>
              </a:ext>
            </a:extLst>
          </p:cNvPr>
          <p:cNvSpPr txBox="1"/>
          <p:nvPr/>
        </p:nvSpPr>
        <p:spPr>
          <a:xfrm>
            <a:off x="5997677" y="1825625"/>
            <a:ext cx="4129549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Collected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Brand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 Capacity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Mileage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Horsepower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Rating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81BE3BA-9F24-61B2-0CAD-CA2BC05B3D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7923" y="6331974"/>
            <a:ext cx="3864077" cy="5260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BF19833-DDB9-308F-01D9-8B5ED740C7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0363" y="0"/>
            <a:ext cx="2341637" cy="1317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311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2809"/>
    </mc:Choice>
    <mc:Fallback xmlns="">
      <p:transition spd="slow" advTm="32809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96F9A-3AFD-A66A-F447-A0654A976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424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F51343-680B-4CAC-8D05-D529FE994C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808406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Columns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Brand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 Capacity in CC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Mileage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Break Horse Power in BHP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 in KG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Ex-Showroom Price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Rating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B1AD00-0CDD-044C-5F1B-B4FB1546E1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7923" y="6331974"/>
            <a:ext cx="3864077" cy="5260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1E7B4D2-D7BD-CA0E-953B-CED6962118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1296" y="0"/>
            <a:ext cx="2070704" cy="1164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015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6506"/>
    </mc:Choice>
    <mc:Fallback xmlns="">
      <p:transition spd="slow" advTm="26506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CBCE2-91C8-E4DF-35E7-8A82BACF4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65585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C021CE-47B4-C85D-A684-D2419C6C0C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IN" sz="1800" dirty="0"/>
              <a:t>Converted price into numeric format </a:t>
            </a:r>
          </a:p>
          <a:p>
            <a:pPr lvl="0"/>
            <a:r>
              <a:rPr lang="en-IN" sz="1800" dirty="0"/>
              <a:t>Converted mileage into numeric format </a:t>
            </a:r>
          </a:p>
          <a:p>
            <a:pPr lvl="0"/>
            <a:r>
              <a:rPr lang="en-IN" sz="1800" dirty="0"/>
              <a:t>Removed rows without price </a:t>
            </a:r>
          </a:p>
          <a:p>
            <a:pPr lvl="0"/>
            <a:r>
              <a:rPr lang="en-IN" sz="1800" dirty="0"/>
              <a:t>Checked missing values </a:t>
            </a:r>
          </a:p>
          <a:p>
            <a:pPr lvl="0"/>
            <a:r>
              <a:rPr lang="en-IN" sz="1800" dirty="0"/>
              <a:t>Checked duplicate records </a:t>
            </a:r>
          </a:p>
          <a:p>
            <a:pPr lvl="0"/>
            <a:r>
              <a:rPr lang="en-IN" sz="1800" dirty="0"/>
              <a:t>Treated missing numerical values</a:t>
            </a:r>
          </a:p>
          <a:p>
            <a:endParaRPr lang="en-IN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34C623-5AE2-4CB5-DA44-946817B7D96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4163"/>
          <a:stretch>
            <a:fillRect/>
          </a:stretch>
        </p:blipFill>
        <p:spPr>
          <a:xfrm>
            <a:off x="5492796" y="1825625"/>
            <a:ext cx="2720576" cy="18441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993E94B-F790-2DDD-CFB4-B38215462B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7923" y="6331974"/>
            <a:ext cx="3864077" cy="5260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8F6EDE8-F1CF-1F93-3B6C-D55107AF71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3979" y="1825625"/>
            <a:ext cx="3066306" cy="184419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5122F1E-816A-E8BC-8401-7A3022D7F96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4820" y="0"/>
            <a:ext cx="1877180" cy="1055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049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1375"/>
    </mc:Choice>
    <mc:Fallback xmlns="">
      <p:transition spd="slow" advTm="31375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B3A2A-F4C5-C6A4-81CC-935F04C7A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19778"/>
          </a:xfrm>
        </p:spPr>
        <p:txBody>
          <a:bodyPr>
            <a:normAutofit fontScale="90000"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Univariate Analysis</a:t>
            </a:r>
            <a:endParaRPr lang="en-IN" sz="3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560F2DE-D9D4-4BAB-9A76-5E94345754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199" y="2051927"/>
            <a:ext cx="10515600" cy="428004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79ADF8C-DBD5-33ED-0631-F81493611AA6}"/>
              </a:ext>
            </a:extLst>
          </p:cNvPr>
          <p:cNvSpPr txBox="1"/>
          <p:nvPr/>
        </p:nvSpPr>
        <p:spPr>
          <a:xfrm>
            <a:off x="838199" y="1268360"/>
            <a:ext cx="83746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many bikes are available from each motorcycle brand in the dataset?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287A0D9-6CF5-E566-0A9A-5DF05AC577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7923" y="6331974"/>
            <a:ext cx="3864077" cy="52602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89EDEF3-D73A-EAF0-190A-8B7A16CD83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0527" y="0"/>
            <a:ext cx="1791473" cy="1007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837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6502"/>
    </mc:Choice>
    <mc:Fallback xmlns="">
      <p:transition spd="slow" advTm="26502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32499EE-DD2B-12BA-7C32-F573DC59444E}"/>
              </a:ext>
            </a:extLst>
          </p:cNvPr>
          <p:cNvSpPr txBox="1"/>
          <p:nvPr/>
        </p:nvSpPr>
        <p:spPr>
          <a:xfrm>
            <a:off x="707916" y="532237"/>
            <a:ext cx="83770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does the average rating vary across different motorcycle brands?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F72637-D60F-50D1-CE64-0C66C8E3B1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916" y="1225980"/>
            <a:ext cx="10353374" cy="50997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805DFDF-0FE0-06FB-FE6E-1AD50241F1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7923" y="6331974"/>
            <a:ext cx="3864077" cy="52602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C35A789-02A7-7E61-69C6-E80C7D64CF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2229" y="0"/>
            <a:ext cx="1799771" cy="1012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921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725"/>
    </mc:Choice>
    <mc:Fallback xmlns="">
      <p:transition spd="slow" advTm="14725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BC4546D-E9B2-635A-7352-530D33BA68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396" y="1170039"/>
            <a:ext cx="9271823" cy="502536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ACAFEF3-07A6-2B75-B751-DF6D110DF2DF}"/>
              </a:ext>
            </a:extLst>
          </p:cNvPr>
          <p:cNvSpPr txBox="1"/>
          <p:nvPr/>
        </p:nvSpPr>
        <p:spPr>
          <a:xfrm>
            <a:off x="914396" y="434759"/>
            <a:ext cx="88490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How are motorcycle prices distributed across the dataset?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FEFBCC4-9F59-F7E5-3B00-262C918474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7923" y="6331974"/>
            <a:ext cx="3864077" cy="52602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9C913C5-1AB6-82F3-4462-0617780DCE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1580" y="0"/>
            <a:ext cx="1780420" cy="1001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2686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956"/>
    </mc:Choice>
    <mc:Fallback xmlns="">
      <p:transition spd="slow" advTm="18956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49F07-6D91-57F1-70A3-63AD6DF72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793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Bivariate Analysis</a:t>
            </a:r>
            <a:endParaRPr lang="en-IN" sz="3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C95F7F-3567-4A1B-B7E6-85B1C81BD3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6349"/>
            <a:ext cx="6958781" cy="727586"/>
          </a:xfrm>
        </p:spPr>
        <p:txBody>
          <a:bodyPr>
            <a:norm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does motorcycle mileage vary with increasing weight?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2C21FB9-CAB2-9EA4-26B5-0CDDF9343D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442" y="2346548"/>
            <a:ext cx="10880358" cy="385605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49AFB71-7A8B-4E93-4C12-AFB2258944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7923" y="6331974"/>
            <a:ext cx="3864077" cy="5260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3509150-7DB7-1E0F-8E77-5EF210A35A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2229" y="0"/>
            <a:ext cx="1799771" cy="1012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3937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4237"/>
    </mc:Choice>
    <mc:Fallback xmlns="">
      <p:transition spd="slow" advTm="24237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1038061-D0E7-A020-EB54-F63153E54F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74" y="963716"/>
            <a:ext cx="9596283" cy="493056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E7E2203-623C-9156-8363-8630E8F006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7923" y="6331974"/>
            <a:ext cx="3864077" cy="52602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8E6CE01-3480-85FE-D46F-DD104DA69B82}"/>
              </a:ext>
            </a:extLst>
          </p:cNvPr>
          <p:cNvSpPr txBox="1"/>
          <p:nvPr/>
        </p:nvSpPr>
        <p:spPr>
          <a:xfrm>
            <a:off x="1150373" y="335591"/>
            <a:ext cx="78854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are the top 10 most expensive motorcycle models based on price?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7FD275-5E6E-5F27-186B-4D06CAE36B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-3512"/>
            <a:ext cx="1828800" cy="102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118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748"/>
    </mc:Choice>
    <mc:Fallback xmlns="">
      <p:transition spd="slow" advTm="17748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446BD-ABDD-574D-1633-05E0D088C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motorcycle brands have higher or lower average prices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8100A5-D203-6D11-D809-6A0727903B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00973"/>
            <a:ext cx="10515600" cy="428039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2DD433A-B56B-574F-A387-2C01ABE4EF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7923" y="6331974"/>
            <a:ext cx="3864077" cy="5260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D54E4FB-C789-B318-77A1-AA2F3247C82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7629" y="0"/>
            <a:ext cx="1774371" cy="998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504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911"/>
    </mc:Choice>
    <mc:Fallback xmlns="">
      <p:transition spd="slow" advTm="1891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F49B6FB-EBBD-589A-DD21-1775F7A682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239" y="1268361"/>
            <a:ext cx="10304205" cy="485454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7AB19C0-2C2F-304A-829B-F10568680A1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7923" y="6331974"/>
            <a:ext cx="3864077" cy="52602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15A8185-4F8B-76D1-20E8-231E73AFBDEC}"/>
              </a:ext>
            </a:extLst>
          </p:cNvPr>
          <p:cNvSpPr txBox="1"/>
          <p:nvPr/>
        </p:nvSpPr>
        <p:spPr>
          <a:xfrm>
            <a:off x="865239" y="533082"/>
            <a:ext cx="757083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are the top 10 motorcycle models based on mileage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8D4E707-7906-9547-52D8-51708A3CBCD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8990" y="0"/>
            <a:ext cx="1703010" cy="957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777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159"/>
    </mc:Choice>
    <mc:Fallback xmlns="">
      <p:transition spd="slow" advTm="14159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4A0CC4E-A4C5-FE00-D4DC-B5B53C1CC9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211" y="965179"/>
            <a:ext cx="9999408" cy="514394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BA9AE57-24B4-F537-C5C7-428C9CDD5E32}"/>
              </a:ext>
            </a:extLst>
          </p:cNvPr>
          <p:cNvSpPr txBox="1"/>
          <p:nvPr/>
        </p:nvSpPr>
        <p:spPr>
          <a:xfrm>
            <a:off x="1101210" y="345425"/>
            <a:ext cx="79739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/>
              <a:t>How does motorcycle price vary with increasing engine capacity?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7033BD8-4A02-6E98-793E-CB9239AB09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7923" y="6331974"/>
            <a:ext cx="3864077" cy="52602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FAF1D4E-1FEB-A953-5F26-0120E35082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2590" y="0"/>
            <a:ext cx="2109410" cy="1186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2089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421"/>
    </mc:Choice>
    <mc:Fallback xmlns="">
      <p:transition spd="slow" advTm="1842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D1E2D41-8B46-9FD2-8A16-A073EA2C9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85249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Multivariate Analysis</a:t>
            </a:r>
            <a:endParaRPr lang="en-IN" sz="3200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7CEDDEF-F8B6-C857-7680-0A7036EC95A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199" y="2268653"/>
            <a:ext cx="10515599" cy="390831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77248D0-630B-F4D9-4EE2-FEEC482AF774}"/>
              </a:ext>
            </a:extLst>
          </p:cNvPr>
          <p:cNvSpPr txBox="1"/>
          <p:nvPr/>
        </p:nvSpPr>
        <p:spPr>
          <a:xfrm>
            <a:off x="838200" y="1386348"/>
            <a:ext cx="101837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 engine capacity and price vary across different motorcycle brands and ratings?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3AA85AA-5369-344A-E5B2-0F325A56B2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7923" y="6331974"/>
            <a:ext cx="3864077" cy="52602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7088E6F-B7AB-0908-3950-FED7FEF7F1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0647" y="-31406"/>
            <a:ext cx="2051353" cy="1153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021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0906"/>
    </mc:Choice>
    <mc:Fallback xmlns="">
      <p:transition spd="slow" advTm="40906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D3455-289C-3CD5-7E1C-83A81B1AB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 horsepower and price vary across different motorcycle brands and mileage levels?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382E9E-36CD-EE5F-FC53-97FF9105EB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967" y="1293437"/>
            <a:ext cx="10677833" cy="449199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C3BD7B3-6BCD-A411-7A5A-A70E3BF801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7923" y="6331974"/>
            <a:ext cx="3864077" cy="5260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4D9E0C9-1434-6E11-7DE6-FE6A0BBEA1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7047" y="0"/>
            <a:ext cx="1644953" cy="925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273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588"/>
    </mc:Choice>
    <mc:Fallback xmlns="">
      <p:transition spd="slow" advTm="20588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892CB-3677-7282-E7C2-FA481ABE9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C62941-E5EE-DBCB-71EB-9A20DAE1FA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76465"/>
            <a:ext cx="10515600" cy="4351338"/>
          </a:xfrm>
        </p:spPr>
        <p:txBody>
          <a:bodyPr>
            <a:normAutofit/>
          </a:bodyPr>
          <a:lstStyle/>
          <a:p>
            <a:pPr lvl="0">
              <a:buFont typeface="Wingdings" panose="05000000000000000000" pitchFamily="2" charset="2"/>
              <a:buChar char="§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Bike prices show a wide variation </a:t>
            </a:r>
          </a:p>
          <a:p>
            <a:pPr lvl="0">
              <a:buFont typeface="Wingdings" panose="05000000000000000000" pitchFamily="2" charset="2"/>
              <a:buChar char="§"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buFont typeface="Wingdings" panose="05000000000000000000" pitchFamily="2" charset="2"/>
              <a:buChar char="§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 capacity and price can be compared using scatter plots </a:t>
            </a:r>
          </a:p>
          <a:p>
            <a:pPr lvl="0">
              <a:buFont typeface="Wingdings" panose="05000000000000000000" pitchFamily="2" charset="2"/>
              <a:buChar char="§"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buFont typeface="Wingdings" panose="05000000000000000000" pitchFamily="2" charset="2"/>
              <a:buChar char="§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Mileage varies across different motorcycles </a:t>
            </a:r>
          </a:p>
          <a:p>
            <a:pPr lvl="0">
              <a:buFont typeface="Wingdings" panose="05000000000000000000" pitchFamily="2" charset="2"/>
              <a:buChar char="§"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buFont typeface="Wingdings" panose="05000000000000000000" pitchFamily="2" charset="2"/>
              <a:buChar char="§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Motorcycle specifications differ across brands </a:t>
            </a:r>
          </a:p>
          <a:p>
            <a:pPr lvl="0">
              <a:buFont typeface="Wingdings" panose="05000000000000000000" pitchFamily="2" charset="2"/>
              <a:buChar char="§"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buFont typeface="Wingdings" panose="05000000000000000000" pitchFamily="2" charset="2"/>
              <a:buChar char="§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Brand-wise averages provide useful comparisons </a:t>
            </a:r>
          </a:p>
          <a:p>
            <a:pPr marL="0" lvl="0" indent="0"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buFont typeface="Wingdings" panose="05000000000000000000" pitchFamily="2" charset="2"/>
              <a:buChar char="§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expensive and high-mileage models can be identified</a:t>
            </a:r>
          </a:p>
          <a:p>
            <a:pPr marL="0" indent="0"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D0CAD2-7475-25FC-88EE-E310FF9001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7923" y="6331974"/>
            <a:ext cx="3864077" cy="5260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FF735F1-D4FA-1D1C-D47A-62AFBD163D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6330" y="-11740"/>
            <a:ext cx="2356556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836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831"/>
    </mc:Choice>
    <mc:Fallback xmlns="">
      <p:transition spd="slow" advTm="4183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B99FD89-6B48-C484-6A88-7B80A0B1DBAD}"/>
              </a:ext>
            </a:extLst>
          </p:cNvPr>
          <p:cNvSpPr txBox="1"/>
          <p:nvPr/>
        </p:nvSpPr>
        <p:spPr>
          <a:xfrm>
            <a:off x="1022551" y="1677527"/>
            <a:ext cx="6961243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Develop products for different price segments. </a:t>
            </a:r>
          </a:p>
          <a:p>
            <a:pPr lvl="0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Consider engine capacity while setting prices. </a:t>
            </a:r>
          </a:p>
          <a:p>
            <a:pPr lvl="0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Improve mileage through weight and efficiency optimization. </a:t>
            </a:r>
          </a:p>
          <a:p>
            <a:pPr lvl="0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Balance horsepower, performance, and price. </a:t>
            </a:r>
          </a:p>
          <a:p>
            <a:pPr lvl="0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Benchmark pricing across competing brands. </a:t>
            </a:r>
          </a:p>
          <a:p>
            <a:pPr lvl="0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Monitor ratings and customer feedback. </a:t>
            </a:r>
          </a:p>
          <a:p>
            <a:pPr lvl="0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Include more variables in future analysis.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892C26-E133-8AEE-2B57-7FCA3187C754}"/>
              </a:ext>
            </a:extLst>
          </p:cNvPr>
          <p:cNvSpPr txBox="1"/>
          <p:nvPr/>
        </p:nvSpPr>
        <p:spPr>
          <a:xfrm>
            <a:off x="1022551" y="412955"/>
            <a:ext cx="61255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8111F3-A11B-5976-6BB3-98DD36DBBA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7923" y="6331974"/>
            <a:ext cx="3864077" cy="52602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BB762B9-D106-A750-FF01-8EAE5B2598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2200" y="0"/>
            <a:ext cx="2209800" cy="1243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109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3735"/>
    </mc:Choice>
    <mc:Fallback xmlns="">
      <p:transition spd="slow" advTm="43735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EAAC930-21D6-1092-985B-D8625C67FFAC}"/>
              </a:ext>
            </a:extLst>
          </p:cNvPr>
          <p:cNvSpPr txBox="1"/>
          <p:nvPr/>
        </p:nvSpPr>
        <p:spPr>
          <a:xfrm>
            <a:off x="727581" y="1861798"/>
            <a:ext cx="984209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arenR"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arenR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Scraping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Extracting data consistently from different BikeWale brand pages was challenging. </a:t>
            </a:r>
          </a:p>
          <a:p>
            <a:pPr marL="342900" lvl="0" indent="-342900">
              <a:buFont typeface="+mj-lt"/>
              <a:buAutoNum type="arabicParenR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arenR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Values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Some motorcycle specifications contained missing data. </a:t>
            </a:r>
          </a:p>
          <a:p>
            <a:pPr marL="342900" lvl="0" indent="-342900">
              <a:buFont typeface="+mj-lt"/>
              <a:buAutoNum type="arabicParenR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arenR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Price, mileage, engine capacity, and other fields required cleaning and conversion. </a:t>
            </a:r>
          </a:p>
          <a:p>
            <a:pPr marL="342900" lvl="0" indent="-342900">
              <a:buFont typeface="+mj-lt"/>
              <a:buAutoNum type="arabicParenR"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arenR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Imputation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Suitable methods were needed to handle missing values without affecting the analysis. </a:t>
            </a:r>
          </a:p>
          <a:p>
            <a:pPr marL="342900" lvl="0" indent="-342900">
              <a:buFont typeface="+mj-lt"/>
              <a:buAutoNum type="arabicParenR"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arenR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&amp; Outliers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Different data ranges and extreme values made some graphs difficult to interpret.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F81440-AF96-B8B4-C274-01F6D06AE827}"/>
              </a:ext>
            </a:extLst>
          </p:cNvPr>
          <p:cNvSpPr txBox="1"/>
          <p:nvPr/>
        </p:nvSpPr>
        <p:spPr>
          <a:xfrm>
            <a:off x="727582" y="383458"/>
            <a:ext cx="66269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</a:t>
            </a:r>
            <a:endParaRPr lang="en-IN" sz="3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8DFBE6-BC7A-0FF7-D733-0663B16122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7923" y="6331974"/>
            <a:ext cx="3864077" cy="52602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D58E132-50B9-603F-2615-DDEDE5FFB6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9429" y="0"/>
            <a:ext cx="2612571" cy="1469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801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7762"/>
    </mc:Choice>
    <mc:Fallback xmlns="">
      <p:transition spd="slow" advTm="47762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6CC62-C785-A017-8CC5-437992B75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73740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810FB1-A89D-25B6-ABB1-4D2B2C5079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2995"/>
            <a:ext cx="10515600" cy="405088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sz="1800" dirty="0">
                <a:solidFill>
                  <a:srgbClr val="002060"/>
                </a:solidFill>
              </a:rPr>
              <a:t>BikeWale → Web Scraping → Data Cleaning → Analysis → Visualization</a:t>
            </a:r>
          </a:p>
          <a:p>
            <a:pPr marL="0" indent="0">
              <a:buNone/>
            </a:pPr>
            <a:endParaRPr lang="en-IN" sz="1800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Outcome</a:t>
            </a:r>
          </a:p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data collection </a:t>
            </a:r>
          </a:p>
          <a:p>
            <a:pPr lvl="0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Structured motorcycle dataset </a:t>
            </a:r>
          </a:p>
          <a:p>
            <a:pPr lvl="0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Cleaned data </a:t>
            </a:r>
          </a:p>
          <a:p>
            <a:pPr lvl="0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analysis </a:t>
            </a:r>
          </a:p>
          <a:p>
            <a:pPr lvl="0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insights</a:t>
            </a: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65D92B-9108-D779-7A12-D60F7B2A7C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7923" y="6331974"/>
            <a:ext cx="3864077" cy="5260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2B8E512-CF6E-E95E-529D-CB1A40684A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0724" y="0"/>
            <a:ext cx="2651276" cy="1491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081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448"/>
    </mc:Choice>
    <mc:Fallback xmlns="">
      <p:transition spd="slow" advTm="34448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thank you sign on a white surface. Thank you thanks… — PICRYL -  Public Domain Media Search Engine">
            <a:extLst>
              <a:ext uri="{FF2B5EF4-FFF2-40B4-BE49-F238E27FC236}">
                <a16:creationId xmlns:a16="http://schemas.microsoft.com/office/drawing/2014/main" id="{3BD05626-5097-3A0E-B18E-E467FDB156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014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0983"/>
    </mc:Choice>
    <mc:Fallback xmlns="">
      <p:transition spd="slow" advTm="40983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361</TotalTime>
  <Words>527</Words>
  <Application>Microsoft Office PowerPoint</Application>
  <PresentationFormat>Widescreen</PresentationFormat>
  <Paragraphs>148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Aptos</vt:lpstr>
      <vt:lpstr>Aptos Display</vt:lpstr>
      <vt:lpstr>Arial</vt:lpstr>
      <vt:lpstr>Lato Black</vt:lpstr>
      <vt:lpstr>Times New Roman</vt:lpstr>
      <vt:lpstr>Wingdings</vt:lpstr>
      <vt:lpstr>Office Theme</vt:lpstr>
      <vt:lpstr>PowerPoint Presentation</vt:lpstr>
      <vt:lpstr>PowerPoint Presentation</vt:lpstr>
      <vt:lpstr>Objective</vt:lpstr>
      <vt:lpstr>Data Source &amp; Brands</vt:lpstr>
      <vt:lpstr>Technologies Used</vt:lpstr>
      <vt:lpstr>Web Scraping Workflow</vt:lpstr>
      <vt:lpstr>Dataset Structure</vt:lpstr>
      <vt:lpstr>Data Cleaning</vt:lpstr>
      <vt:lpstr>Univariate Analysis</vt:lpstr>
      <vt:lpstr>PowerPoint Presentation</vt:lpstr>
      <vt:lpstr>PowerPoint Presentation</vt:lpstr>
      <vt:lpstr>Bivariate Analysis</vt:lpstr>
      <vt:lpstr>PowerPoint Presentation</vt:lpstr>
      <vt:lpstr>Which motorcycle brands have higher or lower average prices </vt:lpstr>
      <vt:lpstr>PowerPoint Presentation</vt:lpstr>
      <vt:lpstr>PowerPoint Presentation</vt:lpstr>
      <vt:lpstr>Multivariate Analysis</vt:lpstr>
      <vt:lpstr>How do horsepower and price vary across different motorcycle brands and mileage levels? </vt:lpstr>
      <vt:lpstr>Key Findings</vt:lpstr>
      <vt:lpstr>PowerPoint Presentation</vt:lpstr>
      <vt:lpstr>PowerPoint Presentation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CHINTALA</dc:creator>
  <cp:lastModifiedBy>chvskvarma@gmail.com</cp:lastModifiedBy>
  <cp:revision>2</cp:revision>
  <dcterms:created xsi:type="dcterms:W3CDTF">2026-09-18T08:16:37Z</dcterms:created>
  <dcterms:modified xsi:type="dcterms:W3CDTF">2026-09-28T06:25:38Z</dcterms:modified>
</cp:coreProperties>
</file>